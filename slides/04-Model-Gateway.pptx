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AI Foundry Model Gateway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00B294"/>
                </a:solidFill>
              </a:defRPr>
            </a:pPr>
            <a:r>
              <a:t>Centralized AI Access with Enterprise-Grade Security &amp; Reliability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666666"/>
                </a:solidFill>
              </a:defRPr>
            </a:pPr>
            <a:r>
              <a:t>Azure API Management  |  AI Gateway Pattern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Architecture &amp; Authentication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97280"/>
            <a:ext cx="1371600" cy="594360"/>
          </a:xfrm>
          <a:prstGeom prst="roundRect">
            <a:avLst/>
          </a:prstGeom>
          <a:solidFill>
            <a:srgbClr val="7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AI Foundry</a:t>
            </a:r>
            <a:br/>
            <a:r>
              <a:t>Agents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11680" y="1097280"/>
            <a:ext cx="1828800" cy="59436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APIM</a:t>
            </a:r>
            <a:br/>
            <a:r>
              <a:t>Model Gateway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914400"/>
            <a:ext cx="1645920" cy="502920"/>
          </a:xfrm>
          <a:prstGeom prst="roundRect">
            <a:avLst/>
          </a:prstGeom>
          <a:solidFill>
            <a:srgbClr val="00B2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models-foundry</a:t>
            </a:r>
            <a:br/>
            <a:r>
              <a:t>(wt: 1)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1554480"/>
            <a:ext cx="1645920" cy="50292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agents-foundry</a:t>
            </a:r>
            <a:br/>
            <a:r>
              <a:t>(wt: 0)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097280"/>
            <a:ext cx="1371600" cy="594360"/>
          </a:xfrm>
          <a:prstGeom prst="round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FFFF"/>
                </a:solidFill>
              </a:defRPr>
            </a:pPr>
            <a:r>
              <a:t>gpt-4o-mini</a:t>
            </a:r>
            <a:br/>
            <a:r>
              <a:t>gpt-4.1-mini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03120"/>
            <a:ext cx="4572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3366"/>
                </a:solidFill>
              </a:defRPr>
            </a:pPr>
            <a:r>
              <a:t>3-Hop Authentication Chain</a:t>
            </a:r>
          </a:p>
          <a:p>
            <a:pPr>
              <a:spcBef>
                <a:spcPts val="200"/>
              </a:spcBef>
              <a:defRPr sz="1100">
                <a:solidFill>
                  <a:srgbClr val="333333"/>
                </a:solidFill>
              </a:defRPr>
            </a:pPr>
            <a:r>
              <a:t>1. Agent → APIM via ai-gateway connection (ApiKey)</a:t>
            </a:r>
          </a:p>
          <a:p>
            <a:pPr>
              <a:spcBef>
                <a:spcPts val="200"/>
              </a:spcBef>
              <a:defRPr sz="1100">
                <a:solidFill>
                  <a:srgbClr val="333333"/>
                </a:solidFill>
              </a:defRPr>
            </a:pPr>
            <a:r>
              <a:t>2. APIM validates sub key → managed identity token</a:t>
            </a:r>
          </a:p>
          <a:p>
            <a:pPr>
              <a:spcBef>
                <a:spcPts val="200"/>
              </a:spcBef>
              <a:defRPr sz="1100">
                <a:solidFill>
                  <a:srgbClr val="333333"/>
                </a:solidFill>
              </a:defRPr>
            </a:pPr>
            <a:r>
              <a:t>3. APIM → Cognitive Services via Bearer (RBAC)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2103120"/>
            <a:ext cx="3840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3366"/>
                </a:solidFill>
              </a:defRPr>
            </a:pPr>
            <a:r>
              <a:t>Enterprise Capabilities</a:t>
            </a:r>
          </a:p>
          <a:p>
            <a:pPr>
              <a:spcBef>
                <a:spcPts val="100"/>
              </a:spcBef>
              <a:defRPr sz="1100">
                <a:solidFill>
                  <a:srgbClr val="333333"/>
                </a:solidFill>
              </a:defRPr>
            </a:pPr>
            <a:r>
              <a:t>✅ Managed identity (zero keys)</a:t>
            </a:r>
          </a:p>
          <a:p>
            <a:pPr>
              <a:spcBef>
                <a:spcPts val="100"/>
              </a:spcBef>
              <a:defRPr sz="1100">
                <a:solidFill>
                  <a:srgbClr val="333333"/>
                </a:solidFill>
              </a:defRPr>
            </a:pPr>
            <a:r>
              <a:t>✅ Monitoring (App Insights)</a:t>
            </a:r>
          </a:p>
          <a:p>
            <a:pPr>
              <a:spcBef>
                <a:spcPts val="100"/>
              </a:spcBef>
              <a:defRPr sz="1100">
                <a:solidFill>
                  <a:srgbClr val="333333"/>
                </a:solidFill>
              </a:defRPr>
            </a:pPr>
            <a:r>
              <a:t>✅ Rate limiting per subscription</a:t>
            </a:r>
          </a:p>
          <a:p>
            <a:pPr>
              <a:spcBef>
                <a:spcPts val="100"/>
              </a:spcBef>
              <a:defRPr sz="1100">
                <a:solidFill>
                  <a:srgbClr val="333333"/>
                </a:solidFill>
              </a:defRPr>
            </a:pPr>
            <a:r>
              <a:t>✅ Semantic caching</a:t>
            </a:r>
          </a:p>
          <a:p>
            <a:pPr>
              <a:spcBef>
                <a:spcPts val="100"/>
              </a:spcBef>
              <a:defRPr sz="1100">
                <a:solidFill>
                  <a:srgbClr val="333333"/>
                </a:solidFill>
              </a:defRPr>
            </a:pPr>
            <a:r>
              <a:t>✅ Circuit breaker &amp; retry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84048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</a:defRPr>
            </a:pPr>
            <a:r>
              <a:t>• ai-gateway connection: type ApiManagement, isSharedToAll — all agents use APIM as inference endpoint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</a:defRPr>
            </a:pPr>
            <a:r>
              <a:t>• Backend pool: weight-based routing across Foundry instances (active/standby failover)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</a:defRPr>
            </a:pPr>
            <a:r>
              <a:t>• Models: gpt-4o-mini (cap 10) + gpt-4.1-mini (cap 12) on models-foundry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</a:defRPr>
            </a:pPr>
            <a:r>
              <a:t>• Agents reference models as ai-gateway/gpt-4.1-mini — transparent APIM routing</a:t>
            </a:r>
          </a:p>
          <a:p>
            <a:pPr>
              <a:spcBef>
                <a:spcPts val="400"/>
              </a:spcBef>
              <a:defRPr sz="1200">
                <a:solidFill>
                  <a:srgbClr val="333333"/>
                </a:solidFill>
              </a:defRPr>
            </a:pPr>
            <a:r>
              <a:t>• IaC (Bicep): fully reproducible — add models/backends without client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